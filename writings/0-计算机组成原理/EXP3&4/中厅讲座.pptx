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2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4D3A3912-8BF2-40B7-8865-AD76A37CA0D0}">
          <p14:sldIdLst>
            <p14:sldId id="256"/>
          </p14:sldIdLst>
        </p14:section>
        <p14:section name="实验要求分析" id="{7143B6D3-1387-444C-B22C-AA4CAA4D2289}">
          <p14:sldIdLst>
            <p14:sldId id="257"/>
            <p14:sldId id="258"/>
            <p14:sldId id="259"/>
          </p14:sldIdLst>
        </p14:section>
        <p14:section name="SRAM" id="{2B24C351-5C84-4C5D-84B3-D885D6B75EF9}">
          <p14:sldIdLst>
            <p14:sldId id="260"/>
            <p14:sldId id="261"/>
            <p14:sldId id="262"/>
          </p14:sldIdLst>
        </p14:section>
        <p14:section name="UART" id="{803D1D5A-3FD3-455A-ACF9-EA84A8F38CAE}">
          <p14:sldIdLst>
            <p14:sldId id="263"/>
            <p14:sldId id="264"/>
            <p14:sldId id="265"/>
            <p14:sldId id="266"/>
          </p14:sldIdLst>
        </p14:section>
        <p14:section name="整体控制" id="{07925D4E-F496-4910-82F5-B7C1BB5645E6}">
          <p14:sldIdLst>
            <p14:sldId id="267"/>
            <p14:sldId id="268"/>
          </p14:sldIdLst>
        </p14:section>
        <p14:section name="结束" id="{7B1B45C3-ABDF-44A6-89E2-168DA638B5B7}">
          <p14:sldIdLst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706" autoAdjust="0"/>
  </p:normalViewPr>
  <p:slideViewPr>
    <p:cSldViewPr snapToGrid="0">
      <p:cViewPr varScale="1">
        <p:scale>
          <a:sx n="84" d="100"/>
          <a:sy n="84" d="100"/>
        </p:scale>
        <p:origin x="15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892B7-98B6-4555-8352-A041C13BBB8D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6BD89-CAFB-41EA-89CC-52270487A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918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截止到目前</a:t>
            </a:r>
            <a:r>
              <a:rPr lang="en-US" altLang="zh-CN" dirty="0"/>
              <a:t>, </a:t>
            </a:r>
            <a:r>
              <a:rPr lang="zh-CN" altLang="en-US" dirty="0"/>
              <a:t>咱们的所有测例都是公开的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 </a:t>
            </a:r>
          </a:p>
          <a:p>
            <a:r>
              <a:rPr lang="zh-CN" altLang="en-US" dirty="0"/>
              <a:t>在 </a:t>
            </a:r>
            <a:r>
              <a:rPr lang="en-US" altLang="zh-CN" dirty="0"/>
              <a:t>OJ </a:t>
            </a:r>
            <a:r>
              <a:rPr lang="zh-CN" altLang="en-US" dirty="0"/>
              <a:t>页面有一个 </a:t>
            </a:r>
            <a:r>
              <a:rPr lang="zh-CN" altLang="en-US" sz="1200" b="1" baseline="0" dirty="0"/>
              <a:t>测试用例列表</a:t>
            </a:r>
            <a:r>
              <a:rPr lang="en-US" altLang="zh-CN" sz="1200" b="0" baseline="0" dirty="0"/>
              <a:t>, </a:t>
            </a:r>
            <a:r>
              <a:rPr lang="zh-CN" altLang="en-US" sz="1200" b="0" baseline="0" dirty="0"/>
              <a:t>点击列表里的 </a:t>
            </a:r>
            <a:r>
              <a:rPr lang="en-US" altLang="zh-CN" sz="1200" b="0" baseline="0" dirty="0"/>
              <a:t>ID (</a:t>
            </a:r>
            <a:r>
              <a:rPr lang="zh-CN" altLang="en-US" sz="1200" b="0" baseline="0" dirty="0"/>
              <a:t>一串 </a:t>
            </a:r>
            <a:r>
              <a:rPr lang="en-US" altLang="zh-CN" sz="1200" b="0" baseline="0" dirty="0"/>
              <a:t>16 </a:t>
            </a:r>
            <a:r>
              <a:rPr lang="zh-CN" altLang="en-US" sz="1200" b="0" baseline="0" dirty="0"/>
              <a:t>进制</a:t>
            </a:r>
            <a:r>
              <a:rPr lang="en-US" altLang="zh-CN" sz="1200" b="0" baseline="0" dirty="0"/>
              <a:t>) </a:t>
            </a:r>
            <a:r>
              <a:rPr lang="zh-CN" altLang="en-US" sz="1200" b="0" baseline="0" dirty="0"/>
              <a:t>就可以打开测试源代码</a:t>
            </a:r>
            <a:r>
              <a:rPr lang="en-US" altLang="zh-CN" sz="1200" b="0" baseline="0" dirty="0"/>
              <a:t>. </a:t>
            </a:r>
          </a:p>
          <a:p>
            <a:endParaRPr lang="en-US" altLang="zh-CN" sz="1200" b="0" baseline="0" dirty="0"/>
          </a:p>
          <a:p>
            <a:r>
              <a:rPr lang="zh-CN" altLang="en-US" b="0" baseline="0" dirty="0"/>
              <a:t>源代码中的测试步骤是最有发言权的</a:t>
            </a:r>
            <a:r>
              <a:rPr lang="en-US" altLang="zh-CN" b="0" baseline="0" dirty="0"/>
              <a:t>. </a:t>
            </a:r>
            <a:endParaRPr lang="zh-CN" altLang="en-US" b="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377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 &amp;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</a:p>
          <a:p>
            <a:endParaRPr lang="en-US" altLang="zh-CN" dirty="0"/>
          </a:p>
          <a:p>
            <a:r>
              <a:rPr lang="zh-CN" altLang="en-US" dirty="0"/>
              <a:t>这里的起始地址是应该保存下来的</a:t>
            </a:r>
            <a:r>
              <a:rPr lang="en-US" altLang="zh-CN" dirty="0"/>
              <a:t>. </a:t>
            </a:r>
            <a:r>
              <a:rPr lang="zh-CN" altLang="en-US" dirty="0"/>
              <a:t>因为我们之后既要以它为基址做变址</a:t>
            </a:r>
            <a:r>
              <a:rPr lang="en-US" altLang="zh-CN" dirty="0"/>
              <a:t>, </a:t>
            </a:r>
            <a:r>
              <a:rPr lang="zh-CN" altLang="en-US" dirty="0"/>
              <a:t>又要重复使用它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使用几个寄存器来存呢</a:t>
            </a:r>
            <a:r>
              <a:rPr lang="en-US" altLang="zh-CN" dirty="0"/>
              <a:t>? </a:t>
            </a:r>
            <a:r>
              <a:rPr lang="zh-CN" altLang="en-US" dirty="0"/>
              <a:t>一个的话</a:t>
            </a:r>
            <a:r>
              <a:rPr lang="en-US" altLang="zh-CN" dirty="0"/>
              <a:t>, </a:t>
            </a:r>
            <a:r>
              <a:rPr lang="zh-CN" altLang="en-US" dirty="0"/>
              <a:t>变址就不能通过直接 </a:t>
            </a:r>
            <a:r>
              <a:rPr lang="en-US" altLang="zh-CN" dirty="0" err="1"/>
              <a:t>Addr</a:t>
            </a:r>
            <a:r>
              <a:rPr lang="en-US" altLang="zh-CN" dirty="0"/>
              <a:t> &lt;= </a:t>
            </a:r>
            <a:r>
              <a:rPr lang="en-US" altLang="zh-CN" dirty="0" err="1"/>
              <a:t>Addr</a:t>
            </a:r>
            <a:r>
              <a:rPr lang="en-US" altLang="zh-CN" dirty="0"/>
              <a:t> + 1 </a:t>
            </a:r>
            <a:r>
              <a:rPr lang="zh-CN" altLang="en-US" dirty="0"/>
              <a:t>实现</a:t>
            </a:r>
            <a:r>
              <a:rPr lang="en-US" altLang="zh-CN" dirty="0"/>
              <a:t>; </a:t>
            </a:r>
            <a:r>
              <a:rPr lang="zh-CN" altLang="en-US" dirty="0"/>
              <a:t>两个的话</a:t>
            </a:r>
            <a:r>
              <a:rPr lang="en-US" altLang="zh-CN" dirty="0"/>
              <a:t>, </a:t>
            </a:r>
            <a:r>
              <a:rPr lang="zh-CN" altLang="en-US" dirty="0"/>
              <a:t>就是一个专门保存用</a:t>
            </a:r>
            <a:r>
              <a:rPr lang="en-US" altLang="zh-CN" dirty="0"/>
              <a:t>, </a:t>
            </a:r>
            <a:r>
              <a:rPr lang="zh-CN" altLang="en-US" dirty="0"/>
              <a:t>另一个逐次 </a:t>
            </a:r>
            <a:r>
              <a:rPr lang="en-US" altLang="zh-CN" dirty="0"/>
              <a:t>+1. </a:t>
            </a:r>
          </a:p>
          <a:p>
            <a:endParaRPr lang="en-US" altLang="zh-CN" dirty="0"/>
          </a:p>
          <a:p>
            <a:r>
              <a:rPr lang="en-US" altLang="zh-CN" dirty="0"/>
              <a:t>3:</a:t>
            </a:r>
          </a:p>
          <a:p>
            <a:endParaRPr lang="en-US" altLang="zh-CN" dirty="0"/>
          </a:p>
          <a:p>
            <a:r>
              <a:rPr lang="zh-CN" altLang="en-US" dirty="0"/>
              <a:t>数据是连续发来的</a:t>
            </a:r>
            <a:r>
              <a:rPr lang="en-US" altLang="zh-CN" dirty="0"/>
              <a:t>, </a:t>
            </a:r>
            <a:r>
              <a:rPr lang="zh-CN" altLang="en-US" dirty="0"/>
              <a:t>我们没有控制它暂停发送的方法</a:t>
            </a:r>
            <a:r>
              <a:rPr lang="en-US" altLang="zh-CN" dirty="0"/>
              <a:t>, </a:t>
            </a:r>
            <a:r>
              <a:rPr lang="zh-CN" altLang="en-US" dirty="0"/>
              <a:t>如果收不下来可能导致 </a:t>
            </a:r>
            <a:r>
              <a:rPr lang="en-US" altLang="zh-CN" dirty="0"/>
              <a:t>UART </a:t>
            </a:r>
            <a:r>
              <a:rPr lang="zh-CN" altLang="en-US" dirty="0"/>
              <a:t>串口的缓冲区爆掉而丢数据 </a:t>
            </a:r>
            <a:r>
              <a:rPr lang="en-US" altLang="zh-CN" dirty="0"/>
              <a:t>(</a:t>
            </a:r>
            <a:r>
              <a:rPr lang="zh-CN" altLang="en-US" dirty="0"/>
              <a:t>没有测试过是不是真的会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问题是把数据收到哪里</a:t>
            </a:r>
            <a:r>
              <a:rPr lang="en-US" altLang="zh-CN" dirty="0"/>
              <a:t>. </a:t>
            </a:r>
            <a:r>
              <a:rPr lang="zh-CN" altLang="en-US" dirty="0"/>
              <a:t>是开 </a:t>
            </a:r>
            <a:r>
              <a:rPr lang="en-US" altLang="zh-CN" dirty="0"/>
              <a:t>10 </a:t>
            </a:r>
            <a:r>
              <a:rPr lang="zh-CN" altLang="en-US" dirty="0"/>
              <a:t>个寄存器来暂存呢</a:t>
            </a:r>
            <a:r>
              <a:rPr lang="en-US" altLang="zh-CN" dirty="0"/>
              <a:t>, </a:t>
            </a:r>
            <a:r>
              <a:rPr lang="zh-CN" altLang="en-US" dirty="0"/>
              <a:t>还是在下一个数据发来之前存到内存里去呢</a:t>
            </a:r>
            <a:r>
              <a:rPr lang="en-US" altLang="zh-CN" dirty="0"/>
              <a:t>? </a:t>
            </a:r>
          </a:p>
          <a:p>
            <a:endParaRPr lang="en-US" altLang="zh-CN" dirty="0"/>
          </a:p>
          <a:p>
            <a:r>
              <a:rPr lang="en-US" altLang="zh-CN" dirty="0"/>
              <a:t>1 ms </a:t>
            </a:r>
            <a:r>
              <a:rPr lang="zh-CN" altLang="en-US" dirty="0"/>
              <a:t>间隔大概是 </a:t>
            </a:r>
            <a:r>
              <a:rPr lang="en-US" altLang="zh-CN" dirty="0"/>
              <a:t>50,000 </a:t>
            </a:r>
            <a:r>
              <a:rPr lang="zh-CN" altLang="en-US" dirty="0"/>
              <a:t>个时钟周期</a:t>
            </a:r>
            <a:r>
              <a:rPr lang="en-US" altLang="zh-CN" dirty="0"/>
              <a:t>, </a:t>
            </a:r>
            <a:r>
              <a:rPr lang="zh-CN" altLang="en-US" dirty="0"/>
              <a:t>考虑到内存的访问速度是极快的</a:t>
            </a:r>
            <a:r>
              <a:rPr lang="en-US" altLang="zh-CN" dirty="0"/>
              <a:t>, </a:t>
            </a:r>
            <a:r>
              <a:rPr lang="zh-CN" altLang="en-US" dirty="0"/>
              <a:t>可以考虑存到内存去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en-US" altLang="zh-CN" dirty="0"/>
              <a:t>4: </a:t>
            </a:r>
          </a:p>
          <a:p>
            <a:endParaRPr lang="en-US" altLang="zh-CN" dirty="0"/>
          </a:p>
          <a:p>
            <a:r>
              <a:rPr lang="zh-CN" altLang="en-US" dirty="0"/>
              <a:t>如果在 </a:t>
            </a:r>
            <a:r>
              <a:rPr lang="en-US" altLang="zh-CN" dirty="0"/>
              <a:t>3 </a:t>
            </a:r>
            <a:r>
              <a:rPr lang="zh-CN" altLang="en-US" dirty="0"/>
              <a:t>中把数据存进内存了</a:t>
            </a:r>
            <a:r>
              <a:rPr lang="en-US" altLang="zh-CN" dirty="0"/>
              <a:t>, </a:t>
            </a:r>
            <a:r>
              <a:rPr lang="zh-CN" altLang="en-US" dirty="0"/>
              <a:t>就要从内存读数据发走</a:t>
            </a:r>
            <a:r>
              <a:rPr lang="en-US" altLang="zh-CN" dirty="0"/>
              <a:t>; </a:t>
            </a:r>
            <a:r>
              <a:rPr lang="zh-CN" altLang="en-US" dirty="0"/>
              <a:t>如果是用寄存器暂存的</a:t>
            </a:r>
            <a:r>
              <a:rPr lang="en-US" altLang="zh-CN" dirty="0"/>
              <a:t>, </a:t>
            </a:r>
            <a:r>
              <a:rPr lang="zh-CN" altLang="en-US" dirty="0"/>
              <a:t>可以不读内存</a:t>
            </a:r>
            <a:r>
              <a:rPr lang="en-US" altLang="zh-CN" dirty="0"/>
              <a:t>, </a:t>
            </a:r>
            <a:r>
              <a:rPr lang="zh-CN" altLang="en-US" dirty="0"/>
              <a:t>但还是要在发走的同时把数据写进内存去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42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根据测试步骤我们可以看出来</a:t>
            </a:r>
            <a:r>
              <a:rPr lang="en-US" altLang="zh-CN" dirty="0"/>
              <a:t>, </a:t>
            </a:r>
            <a:r>
              <a:rPr lang="zh-CN" altLang="en-US" dirty="0"/>
              <a:t>有三件事是必须要做的</a:t>
            </a:r>
            <a:r>
              <a:rPr lang="en-US" altLang="zh-CN" dirty="0"/>
              <a:t>, </a:t>
            </a:r>
            <a:r>
              <a:rPr lang="zh-CN" altLang="en-US" dirty="0"/>
              <a:t>即 读串口</a:t>
            </a:r>
            <a:r>
              <a:rPr lang="en-US" altLang="zh-CN" dirty="0"/>
              <a:t>, </a:t>
            </a:r>
            <a:r>
              <a:rPr lang="zh-CN" altLang="en-US" dirty="0"/>
              <a:t>写串口</a:t>
            </a:r>
            <a:r>
              <a:rPr lang="en-US" altLang="zh-CN" dirty="0"/>
              <a:t>, </a:t>
            </a:r>
            <a:r>
              <a:rPr lang="zh-CN" altLang="en-US" dirty="0"/>
              <a:t>写内存</a:t>
            </a:r>
            <a:r>
              <a:rPr lang="en-US" altLang="zh-CN" dirty="0"/>
              <a:t>. </a:t>
            </a:r>
            <a:r>
              <a:rPr lang="zh-CN" altLang="en-US" dirty="0"/>
              <a:t>读内存可以规避掉</a:t>
            </a:r>
            <a:r>
              <a:rPr lang="en-US" altLang="zh-CN" dirty="0"/>
              <a:t>, </a:t>
            </a:r>
            <a:r>
              <a:rPr lang="zh-CN" altLang="en-US" dirty="0"/>
              <a:t>但是从以后要用这个角度说</a:t>
            </a:r>
            <a:r>
              <a:rPr lang="en-US" altLang="zh-CN" dirty="0"/>
              <a:t>, </a:t>
            </a:r>
            <a:r>
              <a:rPr lang="zh-CN" altLang="en-US" dirty="0"/>
              <a:t>最好也练练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965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这里的所谓 </a:t>
            </a:r>
            <a:r>
              <a:rPr lang="en-US" altLang="zh-CN" dirty="0"/>
              <a:t>“</a:t>
            </a:r>
            <a:r>
              <a:rPr lang="zh-CN" altLang="en-US" dirty="0"/>
              <a:t>时序</a:t>
            </a:r>
            <a:r>
              <a:rPr lang="en-US" altLang="zh-CN" dirty="0"/>
              <a:t>”, </a:t>
            </a:r>
            <a:r>
              <a:rPr lang="zh-CN" altLang="en-US" dirty="0"/>
              <a:t>指的是要使器件正常工作</a:t>
            </a:r>
            <a:r>
              <a:rPr lang="en-US" altLang="zh-CN" dirty="0"/>
              <a:t>, </a:t>
            </a:r>
            <a:r>
              <a:rPr lang="zh-CN" altLang="en-US" dirty="0"/>
              <a:t>需要按怎样的</a:t>
            </a:r>
            <a:r>
              <a:rPr lang="zh-CN" altLang="en-US" b="1" dirty="0"/>
              <a:t>顺序</a:t>
            </a:r>
            <a:r>
              <a:rPr lang="zh-CN" altLang="en-US" dirty="0"/>
              <a:t>给出控制信号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其实就是如何设计状态机</a:t>
            </a:r>
            <a:r>
              <a:rPr lang="en-US" altLang="zh-CN" dirty="0"/>
              <a:t>. </a:t>
            </a:r>
            <a:r>
              <a:rPr lang="zh-CN" altLang="en-US" dirty="0"/>
              <a:t>状态机在 </a:t>
            </a:r>
            <a:r>
              <a:rPr lang="en-US" altLang="zh-CN" dirty="0"/>
              <a:t>50M </a:t>
            </a:r>
            <a:r>
              <a:rPr lang="zh-CN" altLang="en-US" dirty="0"/>
              <a:t>时钟的控制下运转</a:t>
            </a:r>
            <a:r>
              <a:rPr lang="en-US" altLang="zh-CN" dirty="0"/>
              <a:t>, </a:t>
            </a:r>
            <a:r>
              <a:rPr lang="zh-CN" altLang="en-US" dirty="0"/>
              <a:t>在不同状态给出不同控制信号</a:t>
            </a:r>
            <a:r>
              <a:rPr lang="en-US" altLang="zh-CN" dirty="0"/>
              <a:t>, </a:t>
            </a:r>
            <a:r>
              <a:rPr lang="zh-CN" altLang="en-US" dirty="0"/>
              <a:t>就能控制 </a:t>
            </a:r>
            <a:r>
              <a:rPr lang="en-US" altLang="zh-CN" dirty="0"/>
              <a:t>SRAM </a:t>
            </a:r>
            <a:r>
              <a:rPr lang="zh-CN" altLang="en-US" dirty="0"/>
              <a:t>或 </a:t>
            </a:r>
            <a:r>
              <a:rPr lang="en-US" altLang="zh-CN" dirty="0"/>
              <a:t>UART </a:t>
            </a:r>
            <a:r>
              <a:rPr lang="zh-CN" altLang="en-US" dirty="0"/>
              <a:t>工作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218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读内存的时序是比较简单的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就是把地址加到地址线</a:t>
            </a:r>
            <a:r>
              <a:rPr lang="en-US" altLang="zh-CN" dirty="0"/>
              <a:t>, </a:t>
            </a:r>
            <a:r>
              <a:rPr lang="zh-CN" altLang="en-US" dirty="0"/>
              <a:t>把数据线的外侧设置成高阻态</a:t>
            </a:r>
            <a:r>
              <a:rPr lang="en-US" altLang="zh-CN" dirty="0"/>
              <a:t>, </a:t>
            </a:r>
            <a:r>
              <a:rPr lang="zh-CN" altLang="en-US" dirty="0"/>
              <a:t>到下一个时钟周期就可以拉低 </a:t>
            </a:r>
            <a:r>
              <a:rPr lang="en-US" altLang="zh-CN" dirty="0"/>
              <a:t>\OE, </a:t>
            </a:r>
            <a:r>
              <a:rPr lang="zh-CN" altLang="en-US" dirty="0"/>
              <a:t>再下一个周期就可以从数据线上取数据了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取数据的同时就可以拉高 </a:t>
            </a:r>
            <a:r>
              <a:rPr lang="en-US" altLang="zh-CN" dirty="0"/>
              <a:t>\OE, </a:t>
            </a:r>
            <a:r>
              <a:rPr lang="zh-CN" altLang="en-US" dirty="0"/>
              <a:t>数据能保持若干时间之后才消失</a:t>
            </a:r>
            <a:r>
              <a:rPr lang="en-US" altLang="zh-CN" dirty="0"/>
              <a:t>, </a:t>
            </a:r>
            <a:r>
              <a:rPr lang="zh-CN" altLang="en-US" dirty="0"/>
              <a:t>足够数据进入另一个寄存器了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如果保持输出使能更换地址</a:t>
            </a:r>
            <a:r>
              <a:rPr lang="en-US" altLang="zh-CN" dirty="0"/>
              <a:t>, </a:t>
            </a:r>
            <a:r>
              <a:rPr lang="zh-CN" altLang="en-US" dirty="0"/>
              <a:t>需要等一个时钟周期再读数据</a:t>
            </a:r>
            <a:r>
              <a:rPr lang="en-US" altLang="zh-CN" dirty="0"/>
              <a:t>. (</a:t>
            </a:r>
            <a:r>
              <a:rPr lang="zh-CN" altLang="en-US" dirty="0"/>
              <a:t>右上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944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写内存稍微复杂一些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先把地址加载到地址线上</a:t>
            </a:r>
            <a:r>
              <a:rPr lang="en-US" altLang="zh-CN" dirty="0"/>
              <a:t>, </a:t>
            </a:r>
            <a:r>
              <a:rPr lang="zh-CN" altLang="en-US" dirty="0"/>
              <a:t>数据加载到数据线上</a:t>
            </a:r>
            <a:r>
              <a:rPr lang="en-US" altLang="zh-CN" dirty="0"/>
              <a:t>, </a:t>
            </a:r>
            <a:r>
              <a:rPr lang="zh-CN" altLang="en-US" dirty="0"/>
              <a:t>然后拉低 </a:t>
            </a:r>
            <a:r>
              <a:rPr lang="en-US" altLang="zh-CN" dirty="0"/>
              <a:t>\WE, </a:t>
            </a:r>
            <a:r>
              <a:rPr lang="zh-CN" altLang="en-US" dirty="0"/>
              <a:t>等一个周期</a:t>
            </a:r>
            <a:r>
              <a:rPr lang="en-US" altLang="zh-CN" dirty="0"/>
              <a:t>, </a:t>
            </a:r>
            <a:r>
              <a:rPr lang="zh-CN" altLang="en-US" dirty="0"/>
              <a:t>就保证能写好</a:t>
            </a:r>
            <a:r>
              <a:rPr lang="en-US" altLang="zh-CN" dirty="0"/>
              <a:t>, </a:t>
            </a:r>
            <a:r>
              <a:rPr lang="zh-CN" altLang="en-US" dirty="0"/>
              <a:t>可以拉高 </a:t>
            </a:r>
            <a:r>
              <a:rPr lang="en-US" altLang="zh-CN" dirty="0"/>
              <a:t>\WE </a:t>
            </a:r>
            <a:r>
              <a:rPr lang="zh-CN" altLang="en-US" dirty="0"/>
              <a:t>了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按实验指导书的意思</a:t>
            </a:r>
            <a:r>
              <a:rPr lang="en-US" altLang="zh-CN" dirty="0"/>
              <a:t>, </a:t>
            </a:r>
            <a:r>
              <a:rPr lang="zh-CN" altLang="en-US" dirty="0"/>
              <a:t>是有建立时间和保持时间的</a:t>
            </a:r>
            <a:r>
              <a:rPr lang="en-US" altLang="zh-CN" dirty="0"/>
              <a:t>. </a:t>
            </a:r>
            <a:r>
              <a:rPr lang="zh-CN" altLang="en-US" dirty="0"/>
              <a:t>按器件说明书的时序图看</a:t>
            </a:r>
            <a:r>
              <a:rPr lang="en-US" altLang="zh-CN" dirty="0"/>
              <a:t>, </a:t>
            </a:r>
            <a:r>
              <a:rPr lang="zh-CN" altLang="en-US" dirty="0"/>
              <a:t>各不会超过 </a:t>
            </a:r>
            <a:r>
              <a:rPr lang="en-US" altLang="zh-CN" dirty="0"/>
              <a:t>1 </a:t>
            </a:r>
            <a:r>
              <a:rPr lang="zh-CN" altLang="en-US" dirty="0"/>
              <a:t>个周期</a:t>
            </a:r>
            <a:r>
              <a:rPr lang="en-US" altLang="zh-CN" dirty="0"/>
              <a:t>, </a:t>
            </a:r>
            <a:r>
              <a:rPr lang="zh-CN" altLang="en-US" dirty="0"/>
              <a:t>前后各插 </a:t>
            </a:r>
            <a:r>
              <a:rPr lang="en-US" altLang="zh-CN" dirty="0"/>
              <a:t>1 </a:t>
            </a:r>
            <a:r>
              <a:rPr lang="zh-CN" altLang="en-US" dirty="0"/>
              <a:t>个空拍就足够保险了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写完之后记得要拉高 </a:t>
            </a:r>
            <a:r>
              <a:rPr lang="en-US" altLang="zh-CN" dirty="0"/>
              <a:t>\WE. </a:t>
            </a:r>
            <a:r>
              <a:rPr lang="zh-CN" altLang="en-US" dirty="0"/>
              <a:t>否则从外侧加载到数据线的数据会覆盖内存的输出 </a:t>
            </a:r>
            <a:r>
              <a:rPr lang="en-US" altLang="zh-CN" dirty="0"/>
              <a:t>(p.3 </a:t>
            </a:r>
            <a:r>
              <a:rPr lang="zh-CN" altLang="en-US" dirty="0"/>
              <a:t>的真值表</a:t>
            </a:r>
            <a:r>
              <a:rPr lang="en-US" altLang="zh-CN" dirty="0"/>
              <a:t>), </a:t>
            </a:r>
            <a:r>
              <a:rPr lang="zh-CN" altLang="en-US" dirty="0"/>
              <a:t>并且持续不断地写进内存里去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按我们使用的内存器件的规格</a:t>
            </a:r>
            <a:r>
              <a:rPr lang="en-US" altLang="zh-CN" dirty="0"/>
              <a:t>, </a:t>
            </a:r>
            <a:r>
              <a:rPr lang="zh-CN" altLang="en-US" dirty="0"/>
              <a:t>如果 </a:t>
            </a:r>
            <a:r>
              <a:rPr lang="en-US" altLang="zh-CN" dirty="0"/>
              <a:t>\WE </a:t>
            </a:r>
            <a:r>
              <a:rPr lang="zh-CN" altLang="en-US" dirty="0"/>
              <a:t>和 </a:t>
            </a:r>
            <a:r>
              <a:rPr lang="en-US" altLang="zh-CN" dirty="0"/>
              <a:t>\OE </a:t>
            </a:r>
            <a:r>
              <a:rPr lang="zh-CN" altLang="en-US" dirty="0"/>
              <a:t>同时是低 </a:t>
            </a:r>
            <a:r>
              <a:rPr lang="en-US" altLang="zh-CN" dirty="0"/>
              <a:t>(</a:t>
            </a:r>
            <a:r>
              <a:rPr lang="zh-CN" altLang="en-US" dirty="0"/>
              <a:t>使能</a:t>
            </a:r>
            <a:r>
              <a:rPr lang="en-US" altLang="zh-CN" dirty="0"/>
              <a:t>), </a:t>
            </a:r>
            <a:r>
              <a:rPr lang="zh-CN" altLang="en-US" dirty="0"/>
              <a:t>外部输入会覆盖内部输出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974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数据总线置高阻态和等待 </a:t>
            </a:r>
            <a:r>
              <a:rPr lang="en-US" altLang="zh-CN" dirty="0" err="1"/>
              <a:t>uart_dataready</a:t>
            </a:r>
            <a:r>
              <a:rPr lang="en-US" altLang="zh-CN" dirty="0"/>
              <a:t> </a:t>
            </a:r>
            <a:r>
              <a:rPr lang="zh-CN" altLang="en-US" dirty="0"/>
              <a:t>可以交换顺序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zh-CN" altLang="en-US" dirty="0"/>
              <a:t>置高阻态和拉低 </a:t>
            </a:r>
            <a:r>
              <a:rPr lang="en-US" altLang="zh-CN" dirty="0" err="1"/>
              <a:t>rdn</a:t>
            </a:r>
            <a:r>
              <a:rPr lang="en-US" altLang="zh-CN" dirty="0"/>
              <a:t> </a:t>
            </a:r>
            <a:r>
              <a:rPr lang="zh-CN" altLang="en-US" b="1" dirty="0"/>
              <a:t>可能</a:t>
            </a:r>
            <a:r>
              <a:rPr lang="zh-CN" altLang="en-US" dirty="0"/>
              <a:t>可以同时做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353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一个数据被发送会经历以下过程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zh-CN" altLang="en-US" dirty="0"/>
              <a:t>数据总线 </a:t>
            </a:r>
            <a:r>
              <a:rPr lang="en-US" altLang="zh-CN" dirty="0"/>
              <a:t>--@(</a:t>
            </a:r>
            <a:r>
              <a:rPr lang="en-US" altLang="zh-CN" dirty="0" err="1"/>
              <a:t>negedge</a:t>
            </a:r>
            <a:r>
              <a:rPr lang="en-US" altLang="zh-CN" dirty="0"/>
              <a:t> </a:t>
            </a:r>
            <a:r>
              <a:rPr lang="en-US" altLang="zh-CN" dirty="0" err="1"/>
              <a:t>wrn</a:t>
            </a:r>
            <a:r>
              <a:rPr lang="en-US" altLang="zh-CN" dirty="0"/>
              <a:t>)-&gt; </a:t>
            </a:r>
            <a:r>
              <a:rPr lang="en-US" altLang="zh-CN" dirty="0" err="1"/>
              <a:t>tbr</a:t>
            </a:r>
            <a:r>
              <a:rPr lang="en-US" altLang="zh-CN" dirty="0"/>
              <a:t> --@(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wrn</a:t>
            </a:r>
            <a:r>
              <a:rPr lang="en-US" altLang="zh-CN" dirty="0"/>
              <a:t>)-&gt; </a:t>
            </a:r>
            <a:r>
              <a:rPr lang="en-US" altLang="zh-CN" dirty="0" err="1"/>
              <a:t>tsr</a:t>
            </a:r>
            <a:r>
              <a:rPr lang="en-US" altLang="zh-CN" dirty="0"/>
              <a:t> --(</a:t>
            </a:r>
            <a:r>
              <a:rPr lang="zh-CN" altLang="en-US" dirty="0"/>
              <a:t>变成串行</a:t>
            </a:r>
            <a:r>
              <a:rPr lang="en-US" altLang="zh-CN" dirty="0"/>
              <a:t>)</a:t>
            </a:r>
            <a:r>
              <a:rPr lang="en-US" altLang="zh-CN" dirty="0">
                <a:sym typeface="Wingdings" panose="05000000000000000000" pitchFamily="2" charset="2"/>
              </a:rPr>
              <a:t>-&gt; </a:t>
            </a:r>
            <a:r>
              <a:rPr lang="zh-CN" altLang="en-US" dirty="0">
                <a:sym typeface="Wingdings" panose="05000000000000000000" pitchFamily="2" charset="2"/>
              </a:rPr>
              <a:t>发走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 err="1">
                <a:sym typeface="Wingdings" panose="05000000000000000000" pitchFamily="2" charset="2"/>
              </a:rPr>
              <a:t>tbre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dirty="0">
                <a:sym typeface="Wingdings" panose="05000000000000000000" pitchFamily="2" charset="2"/>
              </a:rPr>
              <a:t>的意思是 </a:t>
            </a:r>
            <a:r>
              <a:rPr lang="en-US" altLang="zh-CN" dirty="0" err="1">
                <a:sym typeface="Wingdings" panose="05000000000000000000" pitchFamily="2" charset="2"/>
              </a:rPr>
              <a:t>tbr_empty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en-US" altLang="zh-CN" dirty="0" err="1">
                <a:sym typeface="Wingdings" panose="05000000000000000000" pitchFamily="2" charset="2"/>
              </a:rPr>
              <a:t>tsre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dirty="0">
                <a:sym typeface="Wingdings" panose="05000000000000000000" pitchFamily="2" charset="2"/>
              </a:rPr>
              <a:t>的意思是 </a:t>
            </a:r>
            <a:r>
              <a:rPr lang="en-US" altLang="zh-CN" dirty="0" err="1">
                <a:sym typeface="Wingdings" panose="05000000000000000000" pitchFamily="2" charset="2"/>
              </a:rPr>
              <a:t>tsr_empty</a:t>
            </a:r>
            <a:r>
              <a:rPr lang="en-US" altLang="zh-CN" dirty="0">
                <a:sym typeface="Wingdings" panose="05000000000000000000" pitchFamily="2" charset="2"/>
              </a:rPr>
              <a:t>. </a:t>
            </a: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需要插入几个空拍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zh-CN" altLang="en-US" dirty="0">
                <a:sym typeface="Wingdings" panose="05000000000000000000" pitchFamily="2" charset="2"/>
              </a:rPr>
              <a:t>是因为 </a:t>
            </a:r>
            <a:r>
              <a:rPr lang="en-US" altLang="zh-CN" dirty="0">
                <a:sym typeface="Wingdings" panose="05000000000000000000" pitchFamily="2" charset="2"/>
              </a:rPr>
              <a:t>UART </a:t>
            </a:r>
            <a:r>
              <a:rPr lang="zh-CN" altLang="en-US" dirty="0">
                <a:sym typeface="Wingdings" panose="05000000000000000000" pitchFamily="2" charset="2"/>
              </a:rPr>
              <a:t>使用板子上的 </a:t>
            </a:r>
            <a:r>
              <a:rPr lang="en-US" altLang="zh-CN" dirty="0">
                <a:sym typeface="Wingdings" panose="05000000000000000000" pitchFamily="2" charset="2"/>
              </a:rPr>
              <a:t>11.0592M </a:t>
            </a:r>
            <a:r>
              <a:rPr lang="zh-CN" altLang="en-US" dirty="0">
                <a:sym typeface="Wingdings" panose="05000000000000000000" pitchFamily="2" charset="2"/>
              </a:rPr>
              <a:t>时钟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zh-CN" altLang="en-US" dirty="0">
                <a:sym typeface="Wingdings" panose="05000000000000000000" pitchFamily="2" charset="2"/>
              </a:rPr>
              <a:t>运行速度比较慢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zh-CN" altLang="en-US" dirty="0">
                <a:sym typeface="Wingdings" panose="05000000000000000000" pitchFamily="2" charset="2"/>
              </a:rPr>
              <a:t>如果连着做可能要出问题</a:t>
            </a:r>
            <a:r>
              <a:rPr lang="en-US" altLang="zh-CN" dirty="0">
                <a:sym typeface="Wingdings" panose="05000000000000000000" pitchFamily="2" charset="2"/>
              </a:rPr>
              <a:t>. </a:t>
            </a:r>
            <a:r>
              <a:rPr lang="zh-CN" altLang="en-US" dirty="0">
                <a:sym typeface="Wingdings" panose="05000000000000000000" pitchFamily="2" charset="2"/>
              </a:rPr>
              <a:t>经验告诉我们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zh-CN" altLang="en-US" dirty="0">
                <a:sym typeface="Wingdings" panose="05000000000000000000" pitchFamily="2" charset="2"/>
              </a:rPr>
              <a:t>插</a:t>
            </a:r>
            <a:r>
              <a:rPr lang="en-US" altLang="zh-CN" dirty="0">
                <a:sym typeface="Wingdings" panose="05000000000000000000" pitchFamily="2" charset="2"/>
              </a:rPr>
              <a:t> 3 </a:t>
            </a:r>
            <a:r>
              <a:rPr lang="zh-CN" altLang="en-US" dirty="0">
                <a:sym typeface="Wingdings" panose="05000000000000000000" pitchFamily="2" charset="2"/>
              </a:rPr>
              <a:t>个就够了</a:t>
            </a:r>
            <a:r>
              <a:rPr lang="en-US" altLang="zh-CN" dirty="0">
                <a:sym typeface="Wingdings" panose="05000000000000000000" pitchFamily="2" charset="2"/>
              </a:rPr>
              <a:t>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748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上面我们已经设计出来 </a:t>
            </a:r>
            <a:r>
              <a:rPr lang="en-US" altLang="zh-CN" dirty="0"/>
              <a:t>4 </a:t>
            </a:r>
            <a:r>
              <a:rPr lang="zh-CN" altLang="en-US" dirty="0"/>
              <a:t>个状态机 </a:t>
            </a:r>
            <a:r>
              <a:rPr lang="en-US" altLang="zh-CN" dirty="0"/>
              <a:t>(</a:t>
            </a:r>
            <a:r>
              <a:rPr lang="zh-CN" altLang="en-US" dirty="0"/>
              <a:t>串口读写</a:t>
            </a:r>
            <a:r>
              <a:rPr lang="en-US" altLang="zh-CN" dirty="0"/>
              <a:t>, </a:t>
            </a:r>
            <a:r>
              <a:rPr lang="zh-CN" altLang="en-US" dirty="0"/>
              <a:t>内存读写</a:t>
            </a:r>
            <a:r>
              <a:rPr lang="en-US" altLang="zh-CN" dirty="0"/>
              <a:t>). </a:t>
            </a:r>
          </a:p>
          <a:p>
            <a:endParaRPr lang="en-US" altLang="zh-CN" dirty="0"/>
          </a:p>
          <a:p>
            <a:r>
              <a:rPr lang="zh-CN" altLang="en-US" dirty="0"/>
              <a:t>为了把 </a:t>
            </a:r>
            <a:r>
              <a:rPr lang="en-US" altLang="zh-CN" dirty="0"/>
              <a:t>4 </a:t>
            </a:r>
            <a:r>
              <a:rPr lang="zh-CN" altLang="en-US" dirty="0"/>
              <a:t>个功能整合起来</a:t>
            </a:r>
            <a:r>
              <a:rPr lang="en-US" altLang="zh-CN" dirty="0"/>
              <a:t>, </a:t>
            </a:r>
            <a:r>
              <a:rPr lang="zh-CN" altLang="en-US" dirty="0"/>
              <a:t>还需要再加 </a:t>
            </a:r>
            <a:r>
              <a:rPr lang="en-US" altLang="zh-CN" dirty="0"/>
              <a:t>1 </a:t>
            </a:r>
            <a:r>
              <a:rPr lang="zh-CN" altLang="en-US" dirty="0"/>
              <a:t>个顶层状态机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20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个子状态机要受到主控状态机的控制</a:t>
            </a:r>
            <a:r>
              <a:rPr lang="en-US" altLang="zh-CN" dirty="0"/>
              <a:t>, </a:t>
            </a:r>
            <a:r>
              <a:rPr lang="zh-CN" altLang="en-US" dirty="0"/>
              <a:t>因此在开头要加一个空置状态</a:t>
            </a:r>
            <a:r>
              <a:rPr lang="en-US" altLang="zh-CN" dirty="0"/>
              <a:t>, </a:t>
            </a:r>
            <a:r>
              <a:rPr lang="zh-CN" altLang="en-US" dirty="0"/>
              <a:t>等待主控给出的控制信号才能继续运行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运行完后还要回到空置状态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主控状态机只有在全部子状态机都空置时才能继续运行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如何生成控制信号</a:t>
            </a:r>
            <a:r>
              <a:rPr lang="en-US" altLang="zh-CN" dirty="0"/>
              <a:t>? </a:t>
            </a:r>
            <a:r>
              <a:rPr lang="zh-CN" altLang="en-US" dirty="0"/>
              <a:t>如何在合适的时候将控制信号复位以待下次启动</a:t>
            </a:r>
            <a:r>
              <a:rPr lang="en-US" altLang="zh-CN" dirty="0"/>
              <a:t>?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6BD89-CAFB-41EA-89CC-52270487A2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28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48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7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9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1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339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20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58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852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508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481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196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792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44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62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117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669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717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055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1986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761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20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7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B54AB-FF81-45D2-A825-E7469A1E188C}" type="datetimeFigureOut">
              <a:rPr lang="zh-CN" altLang="en-US" smtClean="0"/>
              <a:t>2020.10.14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54110-08AF-4845-925F-88580651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2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53329-9BB6-4A97-8C7F-4D2CDC1B6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计组原</a:t>
            </a:r>
            <a:r>
              <a:rPr lang="en-US" altLang="zh-CN" dirty="0"/>
              <a:t>: </a:t>
            </a:r>
            <a:r>
              <a:rPr lang="zh-CN" altLang="en-US" dirty="0"/>
              <a:t>实验 </a:t>
            </a:r>
            <a:r>
              <a:rPr lang="en-US" altLang="zh-CN" dirty="0"/>
              <a:t>3 &amp; 4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63C2F5-DBDD-4A37-BAB0-8048098337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2020 </a:t>
            </a:r>
            <a:r>
              <a:rPr lang="zh-CN" altLang="en-US" dirty="0"/>
              <a:t>年 </a:t>
            </a:r>
            <a:r>
              <a:rPr lang="en-US" altLang="zh-CN" dirty="0"/>
              <a:t>10 </a:t>
            </a:r>
            <a:r>
              <a:rPr lang="zh-CN" altLang="en-US" dirty="0"/>
              <a:t>月 </a:t>
            </a:r>
            <a:r>
              <a:rPr lang="en-US" altLang="zh-CN" dirty="0"/>
              <a:t>17 </a:t>
            </a:r>
            <a:r>
              <a:rPr lang="zh-CN" altLang="en-US" dirty="0"/>
              <a:t>日</a:t>
            </a:r>
            <a:endParaRPr lang="en-US" altLang="zh-CN" dirty="0"/>
          </a:p>
          <a:p>
            <a:r>
              <a:rPr lang="zh-CN" altLang="en-US" dirty="0"/>
              <a:t>李祥泽</a:t>
            </a:r>
          </a:p>
        </p:txBody>
      </p:sp>
    </p:spTree>
    <p:extLst>
      <p:ext uri="{BB962C8B-B14F-4D97-AF65-F5344CB8AC3E}">
        <p14:creationId xmlns:p14="http://schemas.microsoft.com/office/powerpoint/2010/main" val="245956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B0DB0-2841-404E-BD37-70B89CD4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DB5171-D5F4-4343-8C83-FE8ED952F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1" u="sng" dirty="0"/>
              <a:t>以 </a:t>
            </a:r>
            <a:r>
              <a:rPr lang="en-US" altLang="zh-CN" b="1" i="1" u="sng" dirty="0"/>
              <a:t>OJ </a:t>
            </a:r>
            <a:r>
              <a:rPr lang="zh-CN" altLang="en-US" b="1" i="1" u="sng" dirty="0"/>
              <a:t>的版本为准</a:t>
            </a:r>
            <a:r>
              <a:rPr lang="en-US" altLang="zh-CN" b="1" i="1" u="sng" dirty="0"/>
              <a:t>!!!</a:t>
            </a:r>
          </a:p>
          <a:p>
            <a:r>
              <a:rPr lang="zh-CN" altLang="en-US" b="1" i="1" u="sng" dirty="0"/>
              <a:t>面向测例编程</a:t>
            </a:r>
            <a:r>
              <a:rPr lang="en-US" altLang="zh-CN" b="1" i="1" u="sng" dirty="0"/>
              <a:t>!  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344618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5B29E48-841C-45F0-BC88-D98D0C81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OJ </a:t>
            </a:r>
            <a:r>
              <a:rPr lang="zh-CN" altLang="en-US" dirty="0"/>
              <a:t>的测试步骤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3684395-4C9B-4CFC-9A7B-807B4C7BEE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将拨码开关设置为起始地址</a:t>
            </a:r>
            <a:r>
              <a:rPr lang="en-US" altLang="zh-CN" dirty="0" err="1"/>
              <a:t>Addr</a:t>
            </a:r>
            <a:r>
              <a:rPr lang="zh-CN" altLang="en-US" dirty="0"/>
              <a:t>，地址单位为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word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单击复位按钮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计算机向</a:t>
            </a:r>
            <a:r>
              <a:rPr lang="en-US" altLang="zh-CN" dirty="0"/>
              <a:t>FPGA</a:t>
            </a:r>
            <a:r>
              <a:rPr lang="zh-CN" altLang="en-US" dirty="0"/>
              <a:t>的串口发送</a:t>
            </a:r>
            <a:r>
              <a:rPr lang="en-US" altLang="zh-CN" dirty="0"/>
              <a:t>10</a:t>
            </a:r>
            <a:r>
              <a:rPr lang="zh-CN" altLang="en-US" dirty="0"/>
              <a:t>个字节的随机数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计算机从</a:t>
            </a:r>
            <a:r>
              <a:rPr lang="en-US" altLang="zh-CN" dirty="0"/>
              <a:t>FPGA</a:t>
            </a:r>
            <a:r>
              <a:rPr lang="zh-CN" altLang="en-US" dirty="0"/>
              <a:t>的串口接收</a:t>
            </a:r>
            <a:r>
              <a:rPr lang="en-US" altLang="zh-CN" dirty="0"/>
              <a:t>10</a:t>
            </a:r>
            <a:r>
              <a:rPr lang="zh-CN" altLang="en-US" dirty="0"/>
              <a:t>个字节的随机数（若超过</a:t>
            </a:r>
            <a:r>
              <a:rPr lang="en-US" altLang="zh-CN" dirty="0"/>
              <a:t>200ms</a:t>
            </a:r>
            <a:r>
              <a:rPr lang="zh-CN" altLang="en-US" dirty="0"/>
              <a:t>未收到记为超时）</a:t>
            </a:r>
          </a:p>
          <a:p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9F2F15-02C2-430B-A2EC-C074D0D131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在按下复位按钮时应该</a:t>
            </a:r>
            <a:r>
              <a:rPr lang="zh-CN" altLang="en-US" b="1" dirty="0"/>
              <a:t>存储</a:t>
            </a:r>
            <a:r>
              <a:rPr lang="zh-CN" altLang="en-US" dirty="0"/>
              <a:t>起始地址</a:t>
            </a:r>
            <a:r>
              <a:rPr lang="en-US" altLang="zh-CN" dirty="0"/>
              <a:t>. </a:t>
            </a:r>
          </a:p>
          <a:p>
            <a:pPr lvl="1"/>
            <a:r>
              <a:rPr lang="zh-CN" altLang="en-US" dirty="0"/>
              <a:t>使用寄存器</a:t>
            </a:r>
            <a:r>
              <a:rPr lang="en-US" altLang="zh-CN" dirty="0"/>
              <a:t>: </a:t>
            </a:r>
            <a:r>
              <a:rPr lang="zh-CN" altLang="en-US" dirty="0"/>
              <a:t>一个</a:t>
            </a:r>
            <a:r>
              <a:rPr lang="en-US" altLang="zh-CN" dirty="0"/>
              <a:t>? </a:t>
            </a:r>
            <a:r>
              <a:rPr lang="zh-CN" altLang="en-US" dirty="0"/>
              <a:t>两个</a:t>
            </a:r>
            <a:r>
              <a:rPr lang="en-US" altLang="zh-CN" dirty="0"/>
              <a:t>?</a:t>
            </a:r>
            <a:endParaRPr lang="en-US" altLang="zh-CN" i="1" dirty="0"/>
          </a:p>
          <a:p>
            <a:r>
              <a:rPr lang="zh-CN" altLang="en-US" dirty="0"/>
              <a:t>两个发来数据之间间隔 </a:t>
            </a:r>
            <a:r>
              <a:rPr lang="en-US" altLang="zh-CN" dirty="0"/>
              <a:t>1 ms. </a:t>
            </a:r>
          </a:p>
          <a:p>
            <a:pPr lvl="1"/>
            <a:r>
              <a:rPr lang="zh-CN" altLang="en-US" dirty="0"/>
              <a:t>使用 </a:t>
            </a:r>
            <a:r>
              <a:rPr lang="en-US" altLang="zh-CN" dirty="0"/>
              <a:t>10 </a:t>
            </a:r>
            <a:r>
              <a:rPr lang="zh-CN" altLang="en-US" dirty="0"/>
              <a:t>个暂存寄存器</a:t>
            </a:r>
            <a:r>
              <a:rPr lang="en-US" altLang="zh-CN" dirty="0"/>
              <a:t>? </a:t>
            </a:r>
          </a:p>
          <a:p>
            <a:pPr lvl="1"/>
            <a:r>
              <a:rPr lang="zh-CN" altLang="en-US" dirty="0"/>
              <a:t>在这 </a:t>
            </a:r>
            <a:r>
              <a:rPr lang="en-US" altLang="zh-CN" dirty="0"/>
              <a:t>1 ms </a:t>
            </a:r>
            <a:r>
              <a:rPr lang="zh-CN" altLang="en-US" dirty="0"/>
              <a:t>中完成读串口和写内存</a:t>
            </a:r>
            <a:r>
              <a:rPr lang="en-US" altLang="zh-CN" dirty="0"/>
              <a:t>? </a:t>
            </a:r>
          </a:p>
          <a:p>
            <a:r>
              <a:rPr lang="zh-CN" altLang="en-US" dirty="0"/>
              <a:t>发完所有数据之后等 </a:t>
            </a:r>
            <a:r>
              <a:rPr lang="en-US" altLang="zh-CN" dirty="0"/>
              <a:t>200 ms.</a:t>
            </a:r>
          </a:p>
          <a:p>
            <a:pPr lvl="1"/>
            <a:r>
              <a:rPr lang="zh-CN" altLang="en-US" dirty="0"/>
              <a:t>其实足足有 </a:t>
            </a:r>
            <a:r>
              <a:rPr lang="en-US" altLang="zh-CN" dirty="0"/>
              <a:t>10M </a:t>
            </a:r>
            <a:r>
              <a:rPr lang="zh-CN" altLang="en-US" dirty="0"/>
              <a:t>个时钟周期</a:t>
            </a:r>
          </a:p>
        </p:txBody>
      </p:sp>
    </p:spTree>
    <p:extLst>
      <p:ext uri="{BB962C8B-B14F-4D97-AF65-F5344CB8AC3E}">
        <p14:creationId xmlns:p14="http://schemas.microsoft.com/office/powerpoint/2010/main" val="75880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22CE3-7DFD-47F2-B7E3-3135B72D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OJ </a:t>
            </a:r>
            <a:r>
              <a:rPr lang="zh-CN" altLang="en-US" dirty="0"/>
              <a:t>的测试步骤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869B8-1ED6-4CD5-B371-B3FF5E94A4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zh-CN" altLang="en-US" dirty="0"/>
              <a:t>通过实验板自带的工具读取</a:t>
            </a:r>
            <a:r>
              <a:rPr lang="en-US" altLang="zh-CN" dirty="0" err="1"/>
              <a:t>BaseRAM</a:t>
            </a:r>
            <a:r>
              <a:rPr lang="zh-CN" altLang="en-US" dirty="0"/>
              <a:t>从</a:t>
            </a:r>
            <a:r>
              <a:rPr lang="en-US" altLang="zh-CN" dirty="0" err="1"/>
              <a:t>Addr</a:t>
            </a:r>
            <a:r>
              <a:rPr lang="zh-CN" altLang="en-US" dirty="0"/>
              <a:t>开始的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word</a:t>
            </a:r>
            <a:r>
              <a:rPr lang="zh-CN" altLang="en-US" dirty="0"/>
              <a:t>，每个</a:t>
            </a:r>
            <a:r>
              <a:rPr lang="en-US" altLang="zh-CN" dirty="0"/>
              <a:t>word</a:t>
            </a:r>
            <a:r>
              <a:rPr lang="zh-CN" altLang="en-US" dirty="0"/>
              <a:t>取最低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/>
              <a:t>对比串口发送的数据、接收的数据和</a:t>
            </a:r>
            <a:r>
              <a:rPr lang="en-US" altLang="zh-CN" dirty="0" err="1"/>
              <a:t>BaseRAM</a:t>
            </a:r>
            <a:r>
              <a:rPr lang="zh-CN" altLang="en-US" dirty="0"/>
              <a:t>中的数据，若均相等则通过测试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/>
              <a:t>回到步骤</a:t>
            </a:r>
            <a:r>
              <a:rPr lang="en-US" altLang="zh-CN" dirty="0"/>
              <a:t>1</a:t>
            </a:r>
            <a:r>
              <a:rPr lang="zh-CN" altLang="en-US" dirty="0"/>
              <a:t>，测试下一组输入</a:t>
            </a:r>
          </a:p>
          <a:p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075556-EB55-46CC-9687-5A3A06A5DA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不论如何必须写内存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记得确认清楚内存地址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你的状态机要能重置再运行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913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EB068-893C-42BF-A1DC-C40135D6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SRAM </a:t>
            </a:r>
            <a:r>
              <a:rPr lang="zh-CN" altLang="en-US" dirty="0"/>
              <a:t>内存的功能和时序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A1152D-E12C-41A2-9BCA-58293D97C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21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48227-6FE9-42F2-AABC-7B0653E8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335AA-2719-4296-A73E-067706D738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右图来源</a:t>
            </a:r>
            <a:r>
              <a:rPr lang="en-US" altLang="zh-CN" dirty="0"/>
              <a:t>: </a:t>
            </a:r>
            <a:r>
              <a:rPr lang="zh-CN" altLang="en-US" dirty="0"/>
              <a:t>内存器件说明书 </a:t>
            </a:r>
            <a:r>
              <a:rPr lang="en-US" altLang="zh-CN" dirty="0"/>
              <a:t>p.6</a:t>
            </a:r>
          </a:p>
          <a:p>
            <a:r>
              <a:rPr lang="zh-CN" altLang="en-US" dirty="0"/>
              <a:t>下图来源</a:t>
            </a:r>
            <a:r>
              <a:rPr lang="en-US" altLang="zh-CN" dirty="0"/>
              <a:t>: </a:t>
            </a:r>
            <a:r>
              <a:rPr lang="zh-CN" altLang="en-US" dirty="0"/>
              <a:t>实验书 </a:t>
            </a:r>
            <a:r>
              <a:rPr lang="en-US" altLang="zh-CN" dirty="0"/>
              <a:t>PDF p.99</a:t>
            </a:r>
          </a:p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7DDE81-A9BD-404C-8B7A-76CFDE4D33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2645687"/>
            <a:ext cx="5595095" cy="35652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54866A8-E32A-4CE1-9EAD-8F09367D5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2" y="918682"/>
            <a:ext cx="5541784" cy="17270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524EF8-7DBD-47A7-934A-2284182F7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16" y="3599658"/>
            <a:ext cx="5541784" cy="257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4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48227-6FE9-42F2-AABC-7B0653E8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335AA-2719-4296-A73E-067706D738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右图来源</a:t>
            </a:r>
            <a:r>
              <a:rPr lang="en-US" altLang="zh-CN" dirty="0"/>
              <a:t>: </a:t>
            </a:r>
            <a:r>
              <a:rPr lang="zh-CN" altLang="en-US" dirty="0"/>
              <a:t>内存器件说明书 </a:t>
            </a:r>
            <a:r>
              <a:rPr lang="en-US" altLang="zh-CN" dirty="0"/>
              <a:t>p.9</a:t>
            </a:r>
          </a:p>
          <a:p>
            <a:r>
              <a:rPr lang="zh-CN" altLang="en-US" dirty="0"/>
              <a:t>下图来源</a:t>
            </a:r>
            <a:r>
              <a:rPr lang="en-US" altLang="zh-CN" dirty="0"/>
              <a:t>: </a:t>
            </a:r>
            <a:r>
              <a:rPr lang="zh-CN" altLang="en-US" dirty="0"/>
              <a:t>实验书 </a:t>
            </a:r>
            <a:r>
              <a:rPr lang="en-US" altLang="zh-CN" dirty="0"/>
              <a:t>PDF p.99</a:t>
            </a:r>
          </a:p>
          <a:p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641F0B98-4645-47DD-8CBC-7F0C7DD338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2048190"/>
            <a:ext cx="5545448" cy="31029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524EF8-7DBD-47A7-934A-2284182F7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16" y="3599658"/>
            <a:ext cx="5541784" cy="257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2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7305E-EC86-4860-AAE4-3AD16F78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UART </a:t>
            </a:r>
            <a:r>
              <a:rPr lang="zh-CN" altLang="en-US" dirty="0"/>
              <a:t>串口的功能和时序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13038D-2B2A-4363-A394-7E980FD48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778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C1097-6635-43BC-947D-CC027A08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读串口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C7413-A053-499A-B5C0-AF382D61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等待 </a:t>
            </a:r>
            <a:r>
              <a:rPr lang="en-US" altLang="zh-CN" dirty="0" err="1"/>
              <a:t>uart_dataready</a:t>
            </a:r>
            <a:r>
              <a:rPr lang="en-US" altLang="zh-CN" dirty="0"/>
              <a:t> </a:t>
            </a:r>
            <a:r>
              <a:rPr lang="zh-CN" altLang="en-US" dirty="0"/>
              <a:t>变高</a:t>
            </a:r>
            <a:endParaRPr lang="en-US" altLang="zh-CN" dirty="0"/>
          </a:p>
          <a:p>
            <a:pPr lvl="1"/>
            <a:r>
              <a:rPr lang="zh-CN" altLang="en-US" dirty="0"/>
              <a:t>说明有数据发来了</a:t>
            </a:r>
            <a:endParaRPr lang="en-US" altLang="zh-CN" dirty="0"/>
          </a:p>
          <a:p>
            <a:r>
              <a:rPr lang="zh-CN" altLang="en-US" dirty="0"/>
              <a:t>数据总线置高阻态</a:t>
            </a:r>
            <a:endParaRPr lang="en-US" altLang="zh-CN" dirty="0"/>
          </a:p>
          <a:p>
            <a:r>
              <a:rPr lang="en-US" altLang="zh-CN" dirty="0" err="1"/>
              <a:t>uart_rdn</a:t>
            </a:r>
            <a:r>
              <a:rPr lang="en-US" altLang="zh-CN" dirty="0"/>
              <a:t> </a:t>
            </a:r>
            <a:r>
              <a:rPr lang="zh-CN" altLang="en-US" dirty="0"/>
              <a:t>拉低</a:t>
            </a:r>
            <a:endParaRPr lang="en-US" altLang="zh-CN" dirty="0"/>
          </a:p>
          <a:p>
            <a:pPr lvl="1"/>
            <a:r>
              <a:rPr lang="zh-CN" altLang="en-US" dirty="0"/>
              <a:t>该信号的下降沿会使 </a:t>
            </a:r>
            <a:r>
              <a:rPr lang="en-US" altLang="zh-CN" dirty="0"/>
              <a:t>UART </a:t>
            </a:r>
            <a:r>
              <a:rPr lang="zh-CN" altLang="en-US" dirty="0"/>
              <a:t>向总线输出</a:t>
            </a:r>
            <a:endParaRPr lang="en-US" altLang="zh-CN" dirty="0"/>
          </a:p>
          <a:p>
            <a:r>
              <a:rPr lang="zh-CN" altLang="en-US" dirty="0"/>
              <a:t>从总线取数据</a:t>
            </a:r>
            <a:r>
              <a:rPr lang="en-US" altLang="zh-CN" dirty="0"/>
              <a:t>, </a:t>
            </a:r>
            <a:r>
              <a:rPr lang="en-US" altLang="zh-CN" dirty="0" err="1"/>
              <a:t>uart_rdn</a:t>
            </a:r>
            <a:r>
              <a:rPr lang="en-US" altLang="zh-CN" dirty="0"/>
              <a:t> </a:t>
            </a:r>
            <a:r>
              <a:rPr lang="zh-CN" altLang="en-US" dirty="0"/>
              <a:t>拉高</a:t>
            </a:r>
            <a:endParaRPr lang="en-US" altLang="zh-CN" dirty="0"/>
          </a:p>
          <a:p>
            <a:pPr lvl="1"/>
            <a:r>
              <a:rPr lang="zh-CN" altLang="en-US" dirty="0"/>
              <a:t>拉高之后 </a:t>
            </a:r>
            <a:r>
              <a:rPr lang="en-US" altLang="zh-CN" dirty="0"/>
              <a:t>UART </a:t>
            </a:r>
            <a:r>
              <a:rPr lang="zh-CN" altLang="en-US" dirty="0"/>
              <a:t>向总线的输出又变成高阻态</a:t>
            </a:r>
            <a:r>
              <a:rPr lang="en-US" altLang="zh-C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9377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719EA-5FC1-4DB9-B651-2ED9A747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写串口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A086B3-1C74-4064-A9E3-D1F660B2F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数据加载到数据总线</a:t>
            </a:r>
            <a:endParaRPr lang="en-US" altLang="zh-CN" dirty="0"/>
          </a:p>
          <a:p>
            <a:r>
              <a:rPr lang="zh-CN" altLang="en-US" dirty="0"/>
              <a:t>拉低 </a:t>
            </a:r>
            <a:r>
              <a:rPr lang="en-US" altLang="zh-CN" dirty="0" err="1"/>
              <a:t>uart_wrn</a:t>
            </a:r>
            <a:endParaRPr lang="en-US" altLang="zh-CN" dirty="0"/>
          </a:p>
          <a:p>
            <a:pPr lvl="1"/>
            <a:r>
              <a:rPr lang="zh-CN" altLang="en-US" dirty="0"/>
              <a:t>信号的下降沿</a:t>
            </a:r>
            <a:r>
              <a:rPr lang="en-US" altLang="zh-CN" dirty="0"/>
              <a:t>, UART </a:t>
            </a:r>
            <a:r>
              <a:rPr lang="zh-CN" altLang="en-US" dirty="0"/>
              <a:t>将把数据总线上的数据装入 </a:t>
            </a:r>
            <a:r>
              <a:rPr lang="zh-CN" altLang="en-US" i="1" dirty="0"/>
              <a:t>发送缓冲寄存器 </a:t>
            </a:r>
            <a:r>
              <a:rPr lang="en-US" altLang="zh-CN" i="1" dirty="0" err="1"/>
              <a:t>tbr</a:t>
            </a:r>
            <a:endParaRPr lang="en-US" altLang="zh-CN" i="1" dirty="0"/>
          </a:p>
          <a:p>
            <a:r>
              <a:rPr lang="zh-CN" altLang="en-US" b="1" i="1" dirty="0"/>
              <a:t>插入几个空拍</a:t>
            </a:r>
            <a:endParaRPr lang="en-US" altLang="zh-CN" b="1" i="1" dirty="0"/>
          </a:p>
          <a:p>
            <a:r>
              <a:rPr lang="zh-CN" altLang="en-US" dirty="0"/>
              <a:t>拉高 </a:t>
            </a:r>
            <a:r>
              <a:rPr lang="en-US" altLang="zh-CN" dirty="0" err="1"/>
              <a:t>uart_wrn</a:t>
            </a:r>
            <a:endParaRPr lang="en-US" altLang="zh-CN" dirty="0"/>
          </a:p>
          <a:p>
            <a:pPr lvl="1"/>
            <a:r>
              <a:rPr lang="zh-CN" altLang="en-US" dirty="0"/>
              <a:t>信号的上升沿</a:t>
            </a:r>
            <a:r>
              <a:rPr lang="en-US" altLang="zh-CN" dirty="0"/>
              <a:t>, UART </a:t>
            </a:r>
            <a:r>
              <a:rPr lang="zh-CN" altLang="en-US" dirty="0"/>
              <a:t>将开始把 </a:t>
            </a:r>
            <a:r>
              <a:rPr lang="en-US" altLang="zh-CN" dirty="0" err="1"/>
              <a:t>tbr</a:t>
            </a:r>
            <a:r>
              <a:rPr lang="en-US" altLang="zh-CN" dirty="0"/>
              <a:t> </a:t>
            </a:r>
            <a:r>
              <a:rPr lang="zh-CN" altLang="en-US" dirty="0"/>
              <a:t>中的数据装入 </a:t>
            </a:r>
            <a:r>
              <a:rPr lang="zh-CN" altLang="en-US" i="1" dirty="0"/>
              <a:t>发送移位寄存器 </a:t>
            </a:r>
            <a:r>
              <a:rPr lang="en-US" altLang="zh-CN" i="1" dirty="0" err="1"/>
              <a:t>tsr</a:t>
            </a:r>
            <a:endParaRPr lang="en-US" altLang="zh-CN" i="1" dirty="0"/>
          </a:p>
          <a:p>
            <a:r>
              <a:rPr lang="zh-CN" altLang="en-US" dirty="0"/>
              <a:t>等待 </a:t>
            </a:r>
            <a:r>
              <a:rPr lang="en-US" altLang="zh-CN" dirty="0" err="1"/>
              <a:t>uart_tbre</a:t>
            </a:r>
            <a:r>
              <a:rPr lang="en-US" altLang="zh-CN" dirty="0"/>
              <a:t> </a:t>
            </a:r>
            <a:r>
              <a:rPr lang="zh-CN" altLang="en-US" dirty="0"/>
              <a:t>变高</a:t>
            </a:r>
            <a:endParaRPr lang="en-US" altLang="zh-CN" dirty="0"/>
          </a:p>
          <a:p>
            <a:r>
              <a:rPr lang="zh-CN" altLang="en-US" dirty="0"/>
              <a:t>等待 </a:t>
            </a:r>
            <a:r>
              <a:rPr lang="en-US" altLang="zh-CN" dirty="0" err="1"/>
              <a:t>uart_tbse</a:t>
            </a:r>
            <a:r>
              <a:rPr lang="en-US" altLang="zh-CN" dirty="0"/>
              <a:t> </a:t>
            </a:r>
            <a:r>
              <a:rPr lang="zh-CN" altLang="en-US" dirty="0"/>
              <a:t>变高</a:t>
            </a:r>
          </a:p>
        </p:txBody>
      </p:sp>
    </p:spTree>
    <p:extLst>
      <p:ext uri="{BB962C8B-B14F-4D97-AF65-F5344CB8AC3E}">
        <p14:creationId xmlns:p14="http://schemas.microsoft.com/office/powerpoint/2010/main" val="2763341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604EF-B7B0-476D-97FD-5C34FABB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写串口 动画演示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C688C4-95FC-4362-B151-D41375C47CAD}"/>
              </a:ext>
            </a:extLst>
          </p:cNvPr>
          <p:cNvSpPr txBox="1"/>
          <p:nvPr/>
        </p:nvSpPr>
        <p:spPr>
          <a:xfrm>
            <a:off x="2588844" y="2265283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wrn</a:t>
            </a:r>
            <a:r>
              <a:rPr lang="en-US" altLang="zh-CN" dirty="0"/>
              <a:t> </a:t>
            </a:r>
            <a:r>
              <a:rPr lang="zh-CN" altLang="en-US" dirty="0"/>
              <a:t>下降沿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FAA9B8-229F-4F87-8848-0598C64E3191}"/>
              </a:ext>
            </a:extLst>
          </p:cNvPr>
          <p:cNvSpPr txBox="1"/>
          <p:nvPr/>
        </p:nvSpPr>
        <p:spPr>
          <a:xfrm>
            <a:off x="5766383" y="2268260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wrn</a:t>
            </a:r>
            <a:r>
              <a:rPr lang="en-US" altLang="zh-CN" dirty="0"/>
              <a:t> </a:t>
            </a:r>
            <a:r>
              <a:rPr lang="zh-CN" altLang="en-US" dirty="0"/>
              <a:t>上升沿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C87365A-5D46-44A6-9A88-D6996F21B11C}"/>
              </a:ext>
            </a:extLst>
          </p:cNvPr>
          <p:cNvCxnSpPr>
            <a:cxnSpLocks/>
          </p:cNvCxnSpPr>
          <p:nvPr/>
        </p:nvCxnSpPr>
        <p:spPr>
          <a:xfrm>
            <a:off x="2463165" y="3429000"/>
            <a:ext cx="1588770" cy="0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66DCE02-65AC-4E29-8BE4-5D5DF25D09F3}"/>
              </a:ext>
            </a:extLst>
          </p:cNvPr>
          <p:cNvSpPr/>
          <p:nvPr/>
        </p:nvSpPr>
        <p:spPr>
          <a:xfrm>
            <a:off x="4051935" y="2634615"/>
            <a:ext cx="1588770" cy="1588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TBR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CAF3C25-213C-4198-8907-B8D92AEB47FD}"/>
              </a:ext>
            </a:extLst>
          </p:cNvPr>
          <p:cNvCxnSpPr>
            <a:cxnSpLocks/>
          </p:cNvCxnSpPr>
          <p:nvPr/>
        </p:nvCxnSpPr>
        <p:spPr>
          <a:xfrm>
            <a:off x="5640705" y="3429000"/>
            <a:ext cx="1588770" cy="0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8BECFAD9-41DA-4EC1-A1F9-8E569D551C05}"/>
              </a:ext>
            </a:extLst>
          </p:cNvPr>
          <p:cNvSpPr/>
          <p:nvPr/>
        </p:nvSpPr>
        <p:spPr>
          <a:xfrm>
            <a:off x="7229475" y="2634615"/>
            <a:ext cx="1588770" cy="1588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TSR</a:t>
            </a:r>
            <a:endParaRPr lang="zh-CN" altLang="en-US" dirty="0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CFD7B41B-9775-46A6-BF86-76A03379502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818245" y="3429000"/>
            <a:ext cx="2499360" cy="79438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583BDDE-71DB-424D-8740-4151D2E1B88F}"/>
              </a:ext>
            </a:extLst>
          </p:cNvPr>
          <p:cNvSpPr/>
          <p:nvPr/>
        </p:nvSpPr>
        <p:spPr>
          <a:xfrm>
            <a:off x="874395" y="2634615"/>
            <a:ext cx="1588770" cy="1588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输入数据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9C7C63-DFEA-4BA6-B7E0-5170AB83A6C0}"/>
              </a:ext>
            </a:extLst>
          </p:cNvPr>
          <p:cNvSpPr txBox="1"/>
          <p:nvPr/>
        </p:nvSpPr>
        <p:spPr>
          <a:xfrm>
            <a:off x="5863365" y="4223385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tbre</a:t>
            </a:r>
            <a:r>
              <a:rPr lang="en-US" altLang="zh-CN" dirty="0"/>
              <a:t> </a:t>
            </a:r>
            <a:r>
              <a:rPr lang="zh-CN" altLang="en-US" dirty="0"/>
              <a:t>变高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43CB1AD-D9CB-4378-AB23-CB07C2BC6BC1}"/>
              </a:ext>
            </a:extLst>
          </p:cNvPr>
          <p:cNvSpPr txBox="1"/>
          <p:nvPr/>
        </p:nvSpPr>
        <p:spPr>
          <a:xfrm>
            <a:off x="9040905" y="4223385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tsre</a:t>
            </a:r>
            <a:r>
              <a:rPr lang="en-US" altLang="zh-CN" dirty="0"/>
              <a:t> </a:t>
            </a:r>
            <a:r>
              <a:rPr lang="zh-CN" altLang="en-US" dirty="0"/>
              <a:t>变高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8AB0CFA-2457-4A65-9084-66EF141C0E48}"/>
              </a:ext>
            </a:extLst>
          </p:cNvPr>
          <p:cNvSpPr/>
          <p:nvPr/>
        </p:nvSpPr>
        <p:spPr>
          <a:xfrm>
            <a:off x="1117917" y="3826192"/>
            <a:ext cx="262890" cy="2628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3E66C0-84CC-4085-91BB-219F1AD27C5D}"/>
              </a:ext>
            </a:extLst>
          </p:cNvPr>
          <p:cNvSpPr/>
          <p:nvPr/>
        </p:nvSpPr>
        <p:spPr>
          <a:xfrm>
            <a:off x="1384934" y="3826192"/>
            <a:ext cx="262890" cy="2628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2627DB-F563-4810-A7BA-54C68762568B}"/>
              </a:ext>
            </a:extLst>
          </p:cNvPr>
          <p:cNvSpPr/>
          <p:nvPr/>
        </p:nvSpPr>
        <p:spPr>
          <a:xfrm>
            <a:off x="1651951" y="3826192"/>
            <a:ext cx="262890" cy="2628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9540D4-5976-4A77-B567-553B1FACDC55}"/>
              </a:ext>
            </a:extLst>
          </p:cNvPr>
          <p:cNvSpPr/>
          <p:nvPr/>
        </p:nvSpPr>
        <p:spPr>
          <a:xfrm>
            <a:off x="1918969" y="3826192"/>
            <a:ext cx="262890" cy="2628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82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-3.33333E-6 L 0.26355 -3.33333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77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4167E-6 -3.33333E-6 L 0.26367 -3.33333E-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77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-3.33333E-6 L 0.26355 -3.33333E-6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77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4167E-6 -3.33333E-6 L 0.26354 -3.33333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6355 -3.33333E-6 L 0.52318 -3.33333E-6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2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26367 -3.33333E-6 L 0.52305 -3.33333E-6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69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26355 -3.33333E-6 L 0.52305 -3.33333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69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6354 -3.33333E-6 L 0.52409 -3.33333E-6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5" presetClass="emph" presetSubtype="0" grpId="1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" presetClass="exit" presetSubtype="2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" presetClass="exit" presetSubtype="2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0"/>
                            </p:stCondLst>
                            <p:childTnLst>
                              <p:par>
                                <p:cTn id="55" presetID="2" presetClass="exit" presetSubtype="2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000"/>
                            </p:stCondLst>
                            <p:childTnLst>
                              <p:par>
                                <p:cTn id="60" presetID="2" presetClass="exit" presetSubtype="2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5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5" presetClass="emph" presetSubtype="0" grpId="1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6" grpId="0"/>
      <p:bldP spid="16" grpId="1"/>
      <p:bldP spid="17" grpId="0"/>
      <p:bldP spid="17" grpId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389E9-0BCB-4F9B-B763-731C72D3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联合控制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A91D34-6B97-480F-8B0E-8A3AB53EA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82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F09E6-317B-4261-A4FD-F745243B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主控状态机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D387D5-6D52-439A-B7E0-7B15ABBC0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910840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预备</a:t>
            </a:r>
            <a:endParaRPr lang="en-US" altLang="zh-CN" sz="2400" dirty="0"/>
          </a:p>
          <a:p>
            <a:r>
              <a:rPr lang="zh-CN" altLang="en-US" sz="2400" dirty="0"/>
              <a:t>读串口 </a:t>
            </a:r>
            <a:r>
              <a:rPr lang="en-US" altLang="zh-CN" sz="2400" dirty="0"/>
              <a:t>#1</a:t>
            </a:r>
          </a:p>
          <a:p>
            <a:r>
              <a:rPr lang="zh-CN" altLang="en-US" sz="2400" dirty="0"/>
              <a:t>写内存 </a:t>
            </a:r>
            <a:r>
              <a:rPr lang="en-US" altLang="zh-CN" sz="2400" dirty="0"/>
              <a:t>#1</a:t>
            </a:r>
          </a:p>
          <a:p>
            <a:r>
              <a:rPr lang="en-US" altLang="zh-CN" sz="2400" dirty="0"/>
              <a:t>……</a:t>
            </a:r>
          </a:p>
          <a:p>
            <a:r>
              <a:rPr lang="zh-CN" altLang="en-US" sz="2400" dirty="0"/>
              <a:t>写内存 </a:t>
            </a:r>
            <a:r>
              <a:rPr lang="en-US" altLang="zh-CN" sz="2400" dirty="0"/>
              <a:t>#10</a:t>
            </a:r>
          </a:p>
          <a:p>
            <a:r>
              <a:rPr lang="zh-CN" altLang="en-US" sz="2400" dirty="0"/>
              <a:t>读内存 </a:t>
            </a:r>
            <a:r>
              <a:rPr lang="en-US" altLang="zh-CN" sz="2400" dirty="0"/>
              <a:t>#1</a:t>
            </a:r>
          </a:p>
          <a:p>
            <a:r>
              <a:rPr lang="zh-CN" altLang="en-US" sz="2400" dirty="0"/>
              <a:t>写串口 </a:t>
            </a:r>
            <a:r>
              <a:rPr lang="en-US" altLang="zh-CN" sz="2400" dirty="0"/>
              <a:t>#1</a:t>
            </a:r>
          </a:p>
          <a:p>
            <a:r>
              <a:rPr lang="en-US" altLang="zh-CN" sz="2400" dirty="0"/>
              <a:t>……</a:t>
            </a:r>
          </a:p>
          <a:p>
            <a:r>
              <a:rPr lang="zh-CN" altLang="en-US" sz="2400" dirty="0"/>
              <a:t>写串口 </a:t>
            </a:r>
            <a:r>
              <a:rPr lang="en-US" altLang="zh-CN" sz="2400" dirty="0"/>
              <a:t>#10</a:t>
            </a:r>
          </a:p>
          <a:p>
            <a:r>
              <a:rPr lang="zh-CN" altLang="en-US" sz="2400" dirty="0"/>
              <a:t>空置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2AD678-0E5D-453C-8B2F-D468C3466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9040" y="1825625"/>
            <a:ext cx="7604760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读内存地址</a:t>
            </a:r>
            <a:endParaRPr lang="en-US" altLang="zh-CN" sz="2400" dirty="0"/>
          </a:p>
          <a:p>
            <a:r>
              <a:rPr lang="zh-CN" altLang="en-US" sz="2400" dirty="0"/>
              <a:t>启动 读串口 状态机</a:t>
            </a:r>
            <a:r>
              <a:rPr lang="en-US" altLang="zh-CN" sz="2400" dirty="0"/>
              <a:t>, </a:t>
            </a:r>
            <a:r>
              <a:rPr lang="zh-CN" altLang="en-US" sz="2400" dirty="0"/>
              <a:t>数据存进一个寄存器</a:t>
            </a:r>
            <a:endParaRPr lang="en-US" altLang="zh-CN" sz="2400" dirty="0"/>
          </a:p>
          <a:p>
            <a:r>
              <a:rPr lang="zh-CN" altLang="en-US" sz="2400" dirty="0"/>
              <a:t>启动 写内存 状态机</a:t>
            </a:r>
            <a:r>
              <a:rPr lang="en-US" altLang="zh-CN" sz="2400" dirty="0"/>
              <a:t>, </a:t>
            </a:r>
            <a:r>
              <a:rPr lang="zh-CN" altLang="en-US" sz="2400" dirty="0"/>
              <a:t>数据从寄存器里取</a:t>
            </a:r>
            <a:endParaRPr lang="en-US" altLang="zh-CN" sz="2400" dirty="0"/>
          </a:p>
          <a:p>
            <a:r>
              <a:rPr lang="en-US" altLang="zh-CN" sz="2400" dirty="0"/>
              <a:t>…</a:t>
            </a:r>
          </a:p>
          <a:p>
            <a:r>
              <a:rPr lang="en-US" altLang="zh-CN" sz="2400" dirty="0"/>
              <a:t>…</a:t>
            </a:r>
          </a:p>
          <a:p>
            <a:r>
              <a:rPr lang="zh-CN" altLang="en-US" sz="2400" dirty="0"/>
              <a:t>启动 读内存 状态机</a:t>
            </a:r>
            <a:r>
              <a:rPr lang="en-US" altLang="zh-CN" sz="2400" dirty="0"/>
              <a:t>, </a:t>
            </a:r>
            <a:r>
              <a:rPr lang="zh-CN" altLang="en-US" sz="2400" dirty="0"/>
              <a:t>数据存进寄存器</a:t>
            </a:r>
            <a:endParaRPr lang="en-US" altLang="zh-CN" sz="2400" dirty="0"/>
          </a:p>
          <a:p>
            <a:r>
              <a:rPr lang="zh-CN" altLang="en-US" sz="2400" dirty="0"/>
              <a:t>启动 写串口 状态机</a:t>
            </a:r>
            <a:r>
              <a:rPr lang="en-US" altLang="zh-CN" sz="2400" dirty="0"/>
              <a:t>, </a:t>
            </a:r>
            <a:r>
              <a:rPr lang="zh-CN" altLang="en-US" sz="2400" dirty="0"/>
              <a:t>数据从寄存器取</a:t>
            </a:r>
            <a:endParaRPr lang="en-US" altLang="zh-CN" sz="2400" dirty="0"/>
          </a:p>
          <a:p>
            <a:r>
              <a:rPr lang="en-US" altLang="zh-CN" sz="2400" dirty="0"/>
              <a:t>…</a:t>
            </a:r>
          </a:p>
          <a:p>
            <a:r>
              <a:rPr lang="en-US" altLang="zh-CN" sz="2400" dirty="0"/>
              <a:t>…</a:t>
            </a:r>
          </a:p>
          <a:p>
            <a:r>
              <a:rPr lang="zh-CN" altLang="en-US" sz="2400" dirty="0"/>
              <a:t>等待按下 </a:t>
            </a:r>
            <a:r>
              <a:rPr lang="en-US" altLang="zh-CN" sz="2400" dirty="0"/>
              <a:t>RST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21530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DF67B-8677-47EE-83D0-3B76EDB9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提问环节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73871C-5D01-49D3-ABAD-1CEA438A5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571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320A6-1C0F-4755-8D53-F57BB86B2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感谢大家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786B9D-4386-41E5-A8D6-8FDD76591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000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1_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1380</Words>
  <Application>Microsoft Office PowerPoint</Application>
  <PresentationFormat>宽屏</PresentationFormat>
  <Paragraphs>157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等线 Light</vt:lpstr>
      <vt:lpstr>Arial</vt:lpstr>
      <vt:lpstr>Calibri</vt:lpstr>
      <vt:lpstr>Calibri Light</vt:lpstr>
      <vt:lpstr>Wingdings</vt:lpstr>
      <vt:lpstr>Office Theme</vt:lpstr>
      <vt:lpstr>1_Office Theme</vt:lpstr>
      <vt:lpstr>计组原: 实验 3 &amp; 4</vt:lpstr>
      <vt:lpstr>实验要求分析</vt:lpstr>
      <vt:lpstr>OJ 的测试步骤</vt:lpstr>
      <vt:lpstr>OJ 的测试步骤 (续)</vt:lpstr>
      <vt:lpstr>SRAM 内存的功能和时序</vt:lpstr>
      <vt:lpstr>读内存</vt:lpstr>
      <vt:lpstr>写内存</vt:lpstr>
      <vt:lpstr>UART 串口的功能和时序</vt:lpstr>
      <vt:lpstr>读串口</vt:lpstr>
      <vt:lpstr>写串口</vt:lpstr>
      <vt:lpstr>写串口 动画演示</vt:lpstr>
      <vt:lpstr>联合控制</vt:lpstr>
      <vt:lpstr>主控状态机</vt:lpstr>
      <vt:lpstr>提问环节</vt:lpstr>
      <vt:lpstr>感谢大家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计组原: 实验 3 &amp; 4</dc:title>
  <dc:creator>李祥泽</dc:creator>
  <cp:lastModifiedBy>李祥泽</cp:lastModifiedBy>
  <cp:revision>28</cp:revision>
  <dcterms:created xsi:type="dcterms:W3CDTF">2020-10-14T02:31:43Z</dcterms:created>
  <dcterms:modified xsi:type="dcterms:W3CDTF">2020-10-14T04:59:15Z</dcterms:modified>
</cp:coreProperties>
</file>